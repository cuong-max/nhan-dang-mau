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3A7CA5"/>
              </a:solidFill>
            </c:spPr>
          </c:dPt>
          <c:dPt>
            <c:idx val="1"/>
            <c:spPr>
              <a:solidFill>
                <a:srgbClr val="5A1E2B"/>
              </a:solidFill>
            </c:spPr>
          </c:dPt>
          <c:dPt>
            <c:idx val="2"/>
            <c:spPr>
              <a:solidFill>
                <a:srgbClr val="5A1E2B"/>
              </a:solidFill>
            </c:spPr>
          </c:dPt>
          <c:dPt>
            <c:idx val="3"/>
            <c:spPr>
              <a:solidFill>
                <a:srgbClr val="5A1E2B"/>
              </a:solidFill>
            </c:spPr>
          </c:dPt>
          <c:dPt>
            <c:idx val="4"/>
            <c:spPr>
              <a:solidFill>
                <a:srgbClr val="5A1E2B"/>
              </a:solidFill>
            </c:spPr>
          </c:dPt>
          <c:dPt>
            <c:idx val="5"/>
            <c:spPr>
              <a:solidFill>
                <a:srgbClr val="3A7CA5"/>
              </a:solidFill>
            </c:spPr>
          </c:dPt>
          <c:dPt>
            <c:idx val="6"/>
            <c:spPr>
              <a:solidFill>
                <a:srgbClr val="5A1E2B"/>
              </a:solidFill>
            </c:spPr>
          </c:dPt>
          <c:dPt>
            <c:idx val="7"/>
            <c:spPr>
              <a:solidFill>
                <a:srgbClr val="5A1E2B"/>
              </a:solidFill>
            </c:spPr>
          </c:dPt>
          <c:dPt>
            <c:idx val="8"/>
            <c:spPr>
              <a:solidFill>
                <a:srgbClr val="5A1E2B"/>
              </a:solidFill>
            </c:spPr>
          </c:dPt>
          <c:dPt>
            <c:idx val="9"/>
            <c:spPr>
              <a:solidFill>
                <a:srgbClr val="5A1E2B"/>
              </a:solidFill>
            </c:spPr>
          </c:dPt>
          <c:dPt>
            <c:idx val="10"/>
            <c:spPr>
              <a:solidFill>
                <a:srgbClr val="5A1E2B"/>
              </a:solidFill>
            </c:spPr>
          </c:dPt>
          <c:dPt>
            <c:idx val="11"/>
            <c:spPr>
              <a:solidFill>
                <a:srgbClr val="5A1E2B"/>
              </a:solidFill>
            </c:spPr>
          </c:dPt>
          <c:cat>
            <c:strRef>
              <c:f>Sheet1!$A$2:$A$13</c:f>
              <c:strCache>
                <c:ptCount val="12"/>
                <c:pt idx="0">
                  <c:v>[CS] k-NN thô</c:v>
                </c:pt>
                <c:pt idx="1">
                  <c:v>LDA</c:v>
                </c:pt>
                <c:pt idx="2">
                  <c:v>Random Forest</c:v>
                </c:pt>
                <c:pt idx="3">
                  <c:v>k-NN + chuẩn hóa</c:v>
                </c:pt>
                <c:pt idx="4">
                  <c:v>Gradient Boosting (HistGB)</c:v>
                </c:pt>
                <c:pt idx="5">
                  <c:v>[CS] Naive Bayes Gaussian</c:v>
                </c:pt>
                <c:pt idx="6">
                  <c:v>PCA + SVM RBF</c:v>
                </c:pt>
                <c:pt idx="7">
                  <c:v>Logistic</c:v>
                </c:pt>
                <c:pt idx="8">
                  <c:v>QDA</c:v>
                </c:pt>
                <c:pt idx="9">
                  <c:v>SVM RBF</c:v>
                </c:pt>
                <c:pt idx="10">
                  <c:v>Chọn ĐT + SVM</c:v>
                </c:pt>
                <c:pt idx="11">
                  <c:v>SVR thứ bậc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0.277</c:v>
                </c:pt>
                <c:pt idx="1">
                  <c:v>0.423</c:v>
                </c:pt>
                <c:pt idx="2">
                  <c:v>0.45</c:v>
                </c:pt>
                <c:pt idx="3">
                  <c:v>0.452</c:v>
                </c:pt>
                <c:pt idx="4">
                  <c:v>0.494</c:v>
                </c:pt>
                <c:pt idx="5">
                  <c:v>0.495</c:v>
                </c:pt>
                <c:pt idx="6">
                  <c:v>0.533</c:v>
                </c:pt>
                <c:pt idx="7">
                  <c:v>0.535</c:v>
                </c:pt>
                <c:pt idx="8">
                  <c:v>0.545</c:v>
                </c:pt>
                <c:pt idx="9">
                  <c:v>0.548</c:v>
                </c:pt>
                <c:pt idx="10">
                  <c:v>0.548</c:v>
                </c:pt>
                <c:pt idx="11">
                  <c:v>0.57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Có trùng</c:v>
                </c:pt>
              </c:strCache>
            </c:strRef>
          </c:tx>
          <c:spPr>
            <a:solidFill>
              <a:srgbClr val="E8C9CF"/>
            </a:solidFill>
          </c:spPr>
          <c:cat>
            <c:strRef>
              <c:f>Sheet1!$A$2:$A$5</c:f>
              <c:strCache>
                <c:ptCount val="4"/>
                <c:pt idx="0">
                  <c:v>k-NN thô</c:v>
                </c:pt>
                <c:pt idx="1">
                  <c:v>SVM RBF</c:v>
                </c:pt>
                <c:pt idx="2">
                  <c:v>Random Forest</c:v>
                </c:pt>
                <c:pt idx="3">
                  <c:v>Gradient Boosting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0.277</c:v>
                </c:pt>
                <c:pt idx="1">
                  <c:v>0.539</c:v>
                </c:pt>
                <c:pt idx="2">
                  <c:v>0.45</c:v>
                </c:pt>
                <c:pt idx="3">
                  <c:v>0.494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Đã loại trùng</c:v>
                </c:pt>
              </c:strCache>
            </c:strRef>
          </c:tx>
          <c:spPr>
            <a:solidFill>
              <a:srgbClr val="5A1E2B"/>
            </a:solidFill>
          </c:spPr>
          <c:cat>
            <c:strRef>
              <c:f>Sheet1!$A$2:$A$5</c:f>
              <c:strCache>
                <c:ptCount val="4"/>
                <c:pt idx="0">
                  <c:v>k-NN thô</c:v>
                </c:pt>
                <c:pt idx="1">
                  <c:v>SVM RBF</c:v>
                </c:pt>
                <c:pt idx="2">
                  <c:v>Random Forest</c:v>
                </c:pt>
                <c:pt idx="3">
                  <c:v>Gradient Boosting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0.277</c:v>
                </c:pt>
                <c:pt idx="1">
                  <c:v>0.539</c:v>
                </c:pt>
                <c:pt idx="2">
                  <c:v>0.45</c:v>
                </c:pt>
                <c:pt idx="3">
                  <c:v>0.494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Giới thiệu nhóm và đề tài.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điểm 0–10 thành nhị phân: ≥7 là chất lượng cao.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Phân bố điểm lệch, 6 và 7 nằm hai bên ranh giới.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Mọi tiền xử lý nằm trong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Nested CV; Nadeau–Bengio vì các fold chồng lấp.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mô hình đầu chênh nhau nhỏ hơn độ lệch chuẩn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của lớp đa số cao hơn SVM.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UCI: 'không chắc mọi biến đều liên quan'; lớp có thứ tự và không cân bằng.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Quyết định theo chi phí thực tế.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Nhãn 6/7 do con người đặt; điểm cảm quan có nhiễu.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Ngưỡng chọn trên dữ liệu đánh giá – lạc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Rò rỉ train/test: cây nhớ bản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Nói rõ giới hạn.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streamlit run app.py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Điền tên thành viên.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Nhận dạng rượu vang chất lượng 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E8C9CF"/>
                </a:solidFill>
                <a:latin typeface="Calibri"/>
              </a:rPr>
              <a:t>Từ 11 chỉ tiêu hóa lý – bộ dữ liệu Wine Quality (UCI): phương án cơ sở so với cải tiến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C9CF"/>
                </a:solidFill>
                <a:latin typeface="Calibri"/>
              </a:rPr>
              <a:t>Bài tập nhóm cuối kỳ – Học phần Nhận dạng mẫu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8C9CF"/>
                </a:solidFill>
                <a:latin typeface="Calibri"/>
              </a:rPr>
              <a:t>Nhóm ….. | Giảng viên: ……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Bài toán: thay hội đồng nếm bằng phép đo hóa lý?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Đầu vào: 11 chỉ tiêu hóa lý (độ cồn, axit, đường dư, SO₂, tỉ trọng…) + loại rượu đỏ/trắng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Đầu ra: chất lượng cao (điểm cảm quan ≥ 7) hay thường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Dữ liệu thật: rượu Vinho Verde, Bồ Đào Nha, 2004–2007 (Cortez et al., UCI #186)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Mục tiêu: vượt phương án cơ sở có kiểm định, hiểu mô hình sai ở đâu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0" y="155448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73736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6.497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2606039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mẫu gốc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0" y="155448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0" y="173736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3A7CA5"/>
                </a:solidFill>
                <a:latin typeface="Calibri"/>
              </a:rPr>
              <a:t>1.177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606039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bản ghi trùng → loại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56616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3749039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5.320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61772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mẫu sử dụng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356616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3749039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461772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lớp chất lượng cao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Dữ liệu: lớp thiểu số, chồng lấp mạnh, độ cồn dẫn dắt</a:t>
            </a:r>
          </a:p>
        </p:txBody>
      </p:sp>
      <p:pic>
        <p:nvPicPr>
          <p:cNvPr id="3" name="Picture 2" descr="quality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168900" cy="3383280"/>
          </a:xfrm>
          <a:prstGeom prst="rect">
            <a:avLst/>
          </a:prstGeom>
        </p:spPr>
      </p:pic>
      <p:pic>
        <p:nvPicPr>
          <p:cNvPr id="4" name="Picture 3" descr="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844242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B2024"/>
                </a:solidFill>
                <a:latin typeface="Calibri"/>
              </a:rPr>
              <a:t>▪  Chỉ 19% mẫu đạt ≥ 7 → accuracy gây hiểu nhầm; dùng F1, recall, AUC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B2024"/>
                </a:solidFill>
                <a:latin typeface="Calibri"/>
              </a:rPr>
              <a:t>▪  Độ cồn quan trọng nhất; hai lớp chồng lấp trên mọi chỉ tiêu, PCA cần 9/12 thành phần cho 95% phương sai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Phương án cơ sở và cải tiến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4846320" cy="4572000"/>
          </a:xfrm>
          <a:prstGeom prst="roundRect">
            <a:avLst>
              <a:gd name="adj" fmla="val 6000"/>
            </a:avLst>
          </a:prstGeom>
          <a:solidFill>
            <a:srgbClr val="E3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A7CA5"/>
                </a:solidFill>
                <a:latin typeface="Calibri"/>
              </a:rPr>
              <a:t>Cơ sở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k-NN (k=5) trên đặc trưng thô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Naive Bayes Gaussian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Tham chiếu: luôn đoán lớp đa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463040"/>
            <a:ext cx="5943600" cy="457200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6002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5A1E2B"/>
                </a:solidFill>
                <a:latin typeface="Calibri"/>
              </a:rPr>
              <a:t>Cải tiến / thay thế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Chuẩn hóa z-score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Trọng số cân bằng lớp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Logistic, LDA/QDA, SVM RBF, PCA + SVM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Random Forest, Gradient Boosting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Chọn đặc trưng; hồi quy thứ bậc (SVR)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Chọn ngưỡng quyết định tối ưu F1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Quy trình đánh giá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3A7CA5"/>
                </a:solidFill>
                <a:latin typeface="Calibri"/>
              </a:rPr>
              <a:t>Loại trùng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1177 bản ghi – tránh rò rỉ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5×3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phân tầng, 15 fold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GridSearch trong mỗi fold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t-test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hiệu chỉnh Nadeau–Bengio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Chỉ số chính: F1 và recall của lớp chất lượng cao, ROC-AUC; accuracy chỉ để tham khảo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Phân tích lỗi trên dự đoán ngoài-fold cho toàn bộ 5.320 mẫu; seed =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Kết quả: F1 tăng gần gấp đôi so với cơ sở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955279" y="146304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64592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0,277 → 0,548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51460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F1: k-NN thô → SVM RBF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38328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356616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SVR thứ bậc: 0,570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4348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F1 cao nhất; mọi cải tiến p &lt; 0,001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3035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5F63"/>
                </a:solidFill>
                <a:latin typeface="Calibri"/>
              </a:rPr>
              <a:t>Xanh: cơ sở; đỏ rượu: cải tiến. F1 ở ngưỡng mặc định.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Vì sao không dùng accuracy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[TC] Lớp đa số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81.0%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0,000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[CS] k-NN thô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79.2%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k-NN + chuẩn hóa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83.4%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36.2%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0,452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SVM RBF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74.7%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03920" y="1554480"/>
            <a:ext cx="3108960" cy="329184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737360"/>
            <a:ext cx="27432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Đoán 'thường' cho mọi chai: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accuracy 81%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nhưng không tìm được chai ngon nào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Chuẩn hóa: F1 0,277 → 0,452 (SO₂ ~ 10² lấn át độ cồn ~ 10)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Thêm cân bằng lớp (SVM): recall 36% → 81%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Thử theo gợi ý của UCI: chọn đặc trưng, nhãn có thứ tự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Chọn đặc trưng (ANOVA F + SVM)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k = 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F1 0,548 so với SVM đầy đủ 0,548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Nested CV giữ lại gần như mọi chỉ tiêu: mỗi chỉ tiêu đóng góp một ít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002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Hồi quy thứ bậc (SVR điểm → ngưỡng)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F1 0,570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2004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Recall 69%, precision 49%, AUC 0,852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Dự đoán điểm 3–9 rồi cắt ở ≈ 6,12; hơn SVM với p = 0,04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Tận dụng thứ tự: điểm 6 gần lớp dương hơn điểm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Ma trận nhầm lẫn: đổi bỏ sót lấy báo nhầm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64240" cy="34043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Bỏ sót rượu ngon: 797 → 189   |   Báo nhầm: 318 → 1160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Precision ~0,4: sàng lọc tốt, nhưng chưa thay được hội đồng nếm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84% báo nhầm là rượu điểm 6 – sát ranh giới</a:t>
            </a:r>
          </a:p>
        </p:txBody>
      </p:sp>
      <p:pic>
        <p:nvPicPr>
          <p:cNvPr id="3" name="Picture 2" descr="pred_by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862813" cy="4206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Tỉ lệ đoán 'cao' tăng theo điểm thật: 9% (5) → 42% (6) → 80% (7)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Bỏ sót: rượu ngon có độ cồn thấp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Báo nhầm: rượu thường có độ cồn cao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Mô hình phụ thuộc quá nhiều vào độ cồn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Ngưỡng quan trọng ngang chọn mô hình</a:t>
            </a:r>
          </a:p>
        </p:txBody>
      </p:sp>
      <p:pic>
        <p:nvPicPr>
          <p:cNvPr id="3" name="Picture 2" descr="thresh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226629" cy="402336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463040"/>
          <a:ext cx="48463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@0,5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tối ưu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0,443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0,582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SVM RBF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Gradient Boosting (HistGB)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0,490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0,559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Logistic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k-NN + chuẩn hóa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0,445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0,531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[CS] k-NN thô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457200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Sau khi chỉnh ngưỡng, các mô hình mạnh chỉ còn chênh 0,01–0,04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Bản ghi trùng thổi phồng mô hình cây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13232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46720" y="1463040"/>
            <a:ext cx="356616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1177 bản ghi trùng (18%)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Random Forest: F1 0,665 → 0,450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SVM: chỉ 0,586 → 0,539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Không loại trùng → chọn sai mô hình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Điều chưa giải quyết được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Nhãn chủ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Ranh giới 6/7 có nhiễu, tạo trần hiệu năng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Thiếu thông 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24028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Không có giống nho, năm, hương vị; chỉ rượu Vinho Verde 2004–2007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Precision thấp (~0,4)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Chỉ dùng làm công cụ sàng lọc, chưa thay được hội đồng nếm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Đánh giá còn lạc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7091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Ngưỡng chọn trên dữ liệu ngoài-fold, chưa có tập kiểm tra độc lập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Demo: thao tác trực tiếp với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Chọn mẫu có sẵn hoặc lấy ngẫu nhiên một chai ngon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Kéo 11 thanh chỉ tiêu hóa lý, đổi loại rượu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So sánh k-NN cơ sở và SVM cải tiến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Kéo ngưỡng để thấy đánh đổi bỏ sót / báo nhầm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Đường xác suất theo độ cồn; vị trí trên PCA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Tải CSV để dự đoán hàng loạt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1737360"/>
            <a:ext cx="4114800" cy="2743200"/>
          </a:xfrm>
          <a:prstGeom prst="roundRect">
            <a:avLst>
              <a:gd name="adj" fmla="val 6000"/>
            </a:avLst>
          </a:prstGeom>
          <a:solidFill>
            <a:srgbClr val="5A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219456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streamlit run app.py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→ localhost:8501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Kết luận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0,277 → 0,548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F1: chuẩn hóa + cân bằng lớp + SVM RBF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Thứ bậc: 0,570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SVR trên điểm: F1 cao nhất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Loại trùng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bắt buộc; lỗi dồn ở ranh giới 6/7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8C9CF"/>
                </a:solidFill>
                <a:latin typeface="Calibri"/>
              </a:rPr>
              <a:t>Phù hợp làm công cụ sàng lọc hỗ trợ, chưa thay thế đánh giá cảm quan.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Phân công và tài liệu tham khảo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1188720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Thành viên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Nhiệm vụ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Đóng góp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…… (nhóm trưởng)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EDA, phát hiện bản ghi trùng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……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Cơ sở, tiền xử lý,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……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Cải tiến, kiểm định, phân tích lỗi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……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Demo, báo cáo,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79" y="1463040"/>
            <a:ext cx="411480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1600200"/>
            <a:ext cx="3749039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[1] Cortez et al. 2009. Wine Quality, UCI: archive.ics.uci.edu/dataset/186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[2] Cortez et al. 2009. Decision Support Systems 47(4)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[3] Pedregosa et al. 2011. scikit-learn, JMLR 12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[4] Nadeau &amp; Bengio 2003. Machine Learning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
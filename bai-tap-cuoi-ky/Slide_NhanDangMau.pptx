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F1</c:v>
                </c:pt>
              </c:strCache>
            </c:strRef>
          </c:tx>
          <c:dPt>
            <c:idx val="0"/>
            <c:spPr>
              <a:solidFill>
                <a:srgbClr val="3A7CA5"/>
              </a:solidFill>
            </c:spPr>
          </c:dPt>
          <c:dPt>
            <c:idx val="1"/>
            <c:spPr>
              <a:solidFill>
                <a:srgbClr val="5A1E2B"/>
              </a:solidFill>
            </c:spPr>
          </c:dPt>
          <c:dPt>
            <c:idx val="2"/>
            <c:spPr>
              <a:solidFill>
                <a:srgbClr val="5A1E2B"/>
              </a:solidFill>
            </c:spPr>
          </c:dPt>
          <c:dPt>
            <c:idx val="3"/>
            <c:spPr>
              <a:solidFill>
                <a:srgbClr val="5A1E2B"/>
              </a:solidFill>
            </c:spPr>
          </c:dPt>
          <c:dPt>
            <c:idx val="4"/>
            <c:spPr>
              <a:solidFill>
                <a:srgbClr val="5A1E2B"/>
              </a:solidFill>
            </c:spPr>
          </c:dPt>
          <c:dPt>
            <c:idx val="5"/>
            <c:spPr>
              <a:solidFill>
                <a:srgbClr val="3A7CA5"/>
              </a:solidFill>
            </c:spPr>
          </c:dPt>
          <c:dPt>
            <c:idx val="6"/>
            <c:spPr>
              <a:solidFill>
                <a:srgbClr val="5A1E2B"/>
              </a:solidFill>
            </c:spPr>
          </c:dPt>
          <c:dPt>
            <c:idx val="7"/>
            <c:spPr>
              <a:solidFill>
                <a:srgbClr val="5A1E2B"/>
              </a:solidFill>
            </c:spPr>
          </c:dPt>
          <c:dPt>
            <c:idx val="8"/>
            <c:spPr>
              <a:solidFill>
                <a:srgbClr val="5A1E2B"/>
              </a:solidFill>
            </c:spPr>
          </c:dPt>
          <c:dPt>
            <c:idx val="9"/>
            <c:spPr>
              <a:solidFill>
                <a:srgbClr val="5A1E2B"/>
              </a:solidFill>
            </c:spPr>
          </c:dPt>
          <c:dPt>
            <c:idx val="10"/>
            <c:spPr>
              <a:solidFill>
                <a:srgbClr val="5A1E2B"/>
              </a:solidFill>
            </c:spPr>
          </c:dPt>
          <c:dPt>
            <c:idx val="11"/>
            <c:spPr>
              <a:solidFill>
                <a:srgbClr val="5A1E2B"/>
              </a:solidFill>
            </c:spPr>
          </c:dPt>
          <c:cat>
            <c:strRef>
              <c:f>Sheet1!$A$2:$A$13</c:f>
              <c:strCache>
                <c:ptCount val="12"/>
                <c:pt idx="0">
                  <c:v>[CS] k-NN thô</c:v>
                </c:pt>
                <c:pt idx="1">
                  <c:v>LDA</c:v>
                </c:pt>
                <c:pt idx="2">
                  <c:v>Random Forest</c:v>
                </c:pt>
                <c:pt idx="3">
                  <c:v>k-NN + chuẩn hóa</c:v>
                </c:pt>
                <c:pt idx="4">
                  <c:v>Gradient Boosting (HistGB)</c:v>
                </c:pt>
                <c:pt idx="5">
                  <c:v>[CS] Naive Bayes Gaussian</c:v>
                </c:pt>
                <c:pt idx="6">
                  <c:v>PCA + SVM RBF</c:v>
                </c:pt>
                <c:pt idx="7">
                  <c:v>Logistic</c:v>
                </c:pt>
                <c:pt idx="8">
                  <c:v>QDA</c:v>
                </c:pt>
                <c:pt idx="9">
                  <c:v>SVM RBF</c:v>
                </c:pt>
                <c:pt idx="10">
                  <c:v>Chọn ĐT + SVM</c:v>
                </c:pt>
                <c:pt idx="11">
                  <c:v>SVR thứ bậc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0.277</c:v>
                </c:pt>
                <c:pt idx="1">
                  <c:v>0.423</c:v>
                </c:pt>
                <c:pt idx="2">
                  <c:v>0.45</c:v>
                </c:pt>
                <c:pt idx="3">
                  <c:v>0.452</c:v>
                </c:pt>
                <c:pt idx="4">
                  <c:v>0.494</c:v>
                </c:pt>
                <c:pt idx="5">
                  <c:v>0.495</c:v>
                </c:pt>
                <c:pt idx="6">
                  <c:v>0.533</c:v>
                </c:pt>
                <c:pt idx="7">
                  <c:v>0.535</c:v>
                </c:pt>
                <c:pt idx="8">
                  <c:v>0.545</c:v>
                </c:pt>
                <c:pt idx="9">
                  <c:v>0.548</c:v>
                </c:pt>
                <c:pt idx="10">
                  <c:v>0.548</c:v>
                </c:pt>
                <c:pt idx="11">
                  <c:v>0.57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3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7"/>
          <c:min val="0.0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Có trùng</c:v>
                </c:pt>
              </c:strCache>
            </c:strRef>
          </c:tx>
          <c:spPr>
            <a:solidFill>
              <a:srgbClr val="E8C9CF"/>
            </a:solidFill>
          </c:spPr>
          <c:cat>
            <c:strRef>
              <c:f>Sheet1!$A$2:$A$5</c:f>
              <c:strCache>
                <c:ptCount val="4"/>
                <c:pt idx="0">
                  <c:v>k-NN thô</c:v>
                </c:pt>
                <c:pt idx="1">
                  <c:v>SVM RBF</c:v>
                </c:pt>
                <c:pt idx="2">
                  <c:v>Random Forest</c:v>
                </c:pt>
                <c:pt idx="3">
                  <c:v>Gradient Boosting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0.408</c:v>
                </c:pt>
                <c:pt idx="1">
                  <c:v>0.586</c:v>
                </c:pt>
                <c:pt idx="2">
                  <c:v>0.665</c:v>
                </c:pt>
                <c:pt idx="3">
                  <c:v>0.676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Đã loại trùng</c:v>
                </c:pt>
              </c:strCache>
            </c:strRef>
          </c:tx>
          <c:spPr>
            <a:solidFill>
              <a:srgbClr val="5A1E2B"/>
            </a:solidFill>
          </c:spPr>
          <c:cat>
            <c:strRef>
              <c:f>Sheet1!$A$2:$A$5</c:f>
              <c:strCache>
                <c:ptCount val="4"/>
                <c:pt idx="0">
                  <c:v>k-NN thô</c:v>
                </c:pt>
                <c:pt idx="1">
                  <c:v>SVM RBF</c:v>
                </c:pt>
                <c:pt idx="2">
                  <c:v>Random Forest</c:v>
                </c:pt>
                <c:pt idx="3">
                  <c:v>Gradient Boosting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0.277</c:v>
                </c:pt>
                <c:pt idx="1">
                  <c:v>0.539</c:v>
                </c:pt>
                <c:pt idx="2">
                  <c:v>0.45</c:v>
                </c:pt>
                <c:pt idx="3">
                  <c:v>0.494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2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"/>
          <c:min val="0.0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overlay val="0"/>
      <c:txPr>
        <a:bodyPr/>
        <a:lstStyle/>
        <a:p>
          <a:pPr>
            <a:defRPr sz="14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Giới thiệu nhóm và đề tài.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Chuyển điểm 0–10 thành nhị phân: ≥7 là chất lượng cao.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Phân bố điểm lệch, 6 và 7 nằm hai bên ranh giới.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Mọi tiền xử lý nằm trong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Nested CV; Nadeau–Bengio vì các fold chồng lấp.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 mô hình đầu chênh nhau nhỏ hơn độ lệch chuẩn fold.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Accuracy của lớp đa số cao hơn SVM.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UCI: 'không chắc mọi biến đều liên quan'; lớp có thứ tự và không cân bằng.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Quyết định theo chi phí thực tế.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Nhãn 6/7 do con người đặt; điểm cảm quan có nhiễu.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Ngưỡng chọn trên dữ liệu đánh giá – lạc quan.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Rò rỉ train/test: cây nhớ bản sao.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Nói rõ giới hạn.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streamlit run app.py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Điền tên thành viên.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chart" Target="../charts/char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A1E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55448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Nhận dạng rượu vang chất lượng cao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01752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E8C9CF"/>
                </a:solidFill>
                <a:latin typeface="Calibri"/>
              </a:rPr>
              <a:t>Từ 11 chỉ tiêu hóa lý – bộ dữ liệu Wine Quality (UCI): phương án cơ sở so với cải tiến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12064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E8C9CF"/>
                </a:solidFill>
                <a:latin typeface="Calibri"/>
              </a:rPr>
              <a:t>Bài tập nhóm cuối kỳ – Học phần Nhận dạng mẫu – Học viện Công nghệ Bưu chính Viễn thông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E8C9CF"/>
                </a:solidFill>
                <a:latin typeface="Calibri"/>
              </a:rPr>
              <a:t>Nguyễn Quốc Cường – Trần Như Đức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E8C9CF"/>
                </a:solidFill>
                <a:latin typeface="Calibri"/>
              </a:rPr>
              <a:t>Giảng viên hướng dẫn: Nguyễn Xuân Đức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5A1E2B"/>
                </a:solidFill>
                <a:latin typeface="Calibri"/>
              </a:rPr>
              <a:t>Bài toán: thay hội đồng nếm bằng phép đo hóa lý?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6217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2B2024"/>
                </a:solidFill>
                <a:latin typeface="Calibri"/>
              </a:rPr>
              <a:t>▪  Đầu vào: 11 chỉ tiêu hóa lý (độ cồn, axit, đường dư, SO₂, tỉ trọng…) + loại rượu đỏ/trắng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B2024"/>
                </a:solidFill>
                <a:latin typeface="Calibri"/>
              </a:rPr>
              <a:t>▪  Đầu ra: chất lượng cao (điểm cảm quan ≥ 7) hay thường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B2024"/>
                </a:solidFill>
                <a:latin typeface="Calibri"/>
              </a:rPr>
              <a:t>▪  Dữ liệu thật: rượu Vinho Verde, Bồ Đào Nha, 2004–2007 (Cortez et al., UCI #186)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B2024"/>
                </a:solidFill>
                <a:latin typeface="Calibri"/>
              </a:rPr>
              <a:t>▪  Mục tiêu: vượt phương án cơ sở có kiểm định, hiểu mô hình sai ở đâu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0" y="1554480"/>
            <a:ext cx="2194560" cy="1737360"/>
          </a:xfrm>
          <a:prstGeom prst="roundRect">
            <a:avLst>
              <a:gd name="adj" fmla="val 6000"/>
            </a:avLst>
          </a:prstGeom>
          <a:solidFill>
            <a:srgbClr val="F6E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0" y="1737360"/>
            <a:ext cx="2194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>
                <a:solidFill>
                  <a:srgbClr val="5A1E2B"/>
                </a:solidFill>
                <a:latin typeface="Calibri"/>
              </a:rPr>
              <a:t>6.497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69480" y="2606039"/>
            <a:ext cx="1920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B5F63"/>
                </a:solidFill>
                <a:latin typeface="Calibri"/>
              </a:rPr>
              <a:t>mẫu gốc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09760" y="1554480"/>
            <a:ext cx="2194560" cy="1737360"/>
          </a:xfrm>
          <a:prstGeom prst="roundRect">
            <a:avLst>
              <a:gd name="adj" fmla="val 6000"/>
            </a:avLst>
          </a:prstGeom>
          <a:solidFill>
            <a:srgbClr val="F6E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0" y="1737360"/>
            <a:ext cx="2194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>
                <a:solidFill>
                  <a:srgbClr val="3A7CA5"/>
                </a:solidFill>
                <a:latin typeface="Calibri"/>
              </a:rPr>
              <a:t>1.177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46920" y="2606039"/>
            <a:ext cx="1920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B5F63"/>
                </a:solidFill>
                <a:latin typeface="Calibri"/>
              </a:rPr>
              <a:t>bản ghi trùng → loại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3566160"/>
            <a:ext cx="2194560" cy="1737360"/>
          </a:xfrm>
          <a:prstGeom prst="roundRect">
            <a:avLst>
              <a:gd name="adj" fmla="val 6000"/>
            </a:avLst>
          </a:prstGeom>
          <a:solidFill>
            <a:srgbClr val="F6E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3749039"/>
            <a:ext cx="2194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>
                <a:solidFill>
                  <a:srgbClr val="5A1E2B"/>
                </a:solidFill>
                <a:latin typeface="Calibri"/>
              </a:rPr>
              <a:t>5.320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4617720"/>
            <a:ext cx="1920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B5F63"/>
                </a:solidFill>
                <a:latin typeface="Calibri"/>
              </a:rPr>
              <a:t>mẫu sử dụng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0" y="3566160"/>
            <a:ext cx="2194560" cy="1737360"/>
          </a:xfrm>
          <a:prstGeom prst="roundRect">
            <a:avLst>
              <a:gd name="adj" fmla="val 6000"/>
            </a:avLst>
          </a:prstGeom>
          <a:solidFill>
            <a:srgbClr val="F6E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0" y="3749039"/>
            <a:ext cx="2194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>
                <a:solidFill>
                  <a:srgbClr val="5A1E2B"/>
                </a:solidFill>
                <a:latin typeface="Calibri"/>
              </a:rPr>
              <a:t>19%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46920" y="4617720"/>
            <a:ext cx="1920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B5F63"/>
                </a:solidFill>
                <a:latin typeface="Calibri"/>
              </a:rPr>
              <a:t>lớp chất lượng cao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5A1E2B"/>
                </a:solidFill>
                <a:latin typeface="Calibri"/>
              </a:rPr>
              <a:t>Dữ liệu: lớp thiểu số, chồng lấp mạnh, độ cồn dẫn dắt</a:t>
            </a:r>
          </a:p>
        </p:txBody>
      </p:sp>
      <p:pic>
        <p:nvPicPr>
          <p:cNvPr id="3" name="Picture 2" descr="quality_d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5168900" cy="3383280"/>
          </a:xfrm>
          <a:prstGeom prst="rect">
            <a:avLst/>
          </a:prstGeom>
        </p:spPr>
      </p:pic>
      <p:pic>
        <p:nvPicPr>
          <p:cNvPr id="4" name="Picture 3" descr="import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371600"/>
            <a:ext cx="4844242" cy="3383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937760"/>
            <a:ext cx="11064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B2024"/>
                </a:solidFill>
                <a:latin typeface="Calibri"/>
              </a:rPr>
              <a:t>▪  Chỉ 19% mẫu đạt ≥ 7 → accuracy gây hiểu nhầm; dùng F1, recall, AUC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B2024"/>
                </a:solidFill>
                <a:latin typeface="Calibri"/>
              </a:rPr>
              <a:t>▪  Độ cồn quan trọng nhất; hai lớp chồng lấp trên mọi chỉ tiêu, PCA cần 9/12 thành phần cho 95% phương sai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5A1E2B"/>
                </a:solidFill>
                <a:latin typeface="Calibri"/>
              </a:rPr>
              <a:t>Phương án cơ sở và cải tiến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4846320" cy="4572000"/>
          </a:xfrm>
          <a:prstGeom prst="roundRect">
            <a:avLst>
              <a:gd name="adj" fmla="val 6000"/>
            </a:avLst>
          </a:prstGeom>
          <a:solidFill>
            <a:srgbClr val="E3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4389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3A7CA5"/>
                </a:solidFill>
                <a:latin typeface="Calibri"/>
              </a:rPr>
              <a:t>Cơ sở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43891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2B2024"/>
                </a:solidFill>
                <a:latin typeface="Calibri"/>
              </a:rPr>
              <a:t>▪  k-NN (k=5) trên đặc trưng thô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B2024"/>
                </a:solidFill>
                <a:latin typeface="Calibri"/>
              </a:rPr>
              <a:t>▪  Naive Bayes Gaussian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B2024"/>
                </a:solidFill>
                <a:latin typeface="Calibri"/>
              </a:rPr>
              <a:t>▪  Tham chiếu: luôn đoán lớp đa số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463040"/>
            <a:ext cx="5943600" cy="4572000"/>
          </a:xfrm>
          <a:prstGeom prst="roundRect">
            <a:avLst>
              <a:gd name="adj" fmla="val 6000"/>
            </a:avLst>
          </a:prstGeom>
          <a:solidFill>
            <a:srgbClr val="F6E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0" y="1600200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5A1E2B"/>
                </a:solidFill>
                <a:latin typeface="Calibri"/>
              </a:rPr>
              <a:t>Cải tiến / thay thế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2860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B2024"/>
                </a:solidFill>
                <a:latin typeface="Calibri"/>
              </a:rPr>
              <a:t>▪  Chuẩn hóa z-score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B2024"/>
                </a:solidFill>
                <a:latin typeface="Calibri"/>
              </a:rPr>
              <a:t>▪  Trọng số cân bằng lớp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B2024"/>
                </a:solidFill>
                <a:latin typeface="Calibri"/>
              </a:rPr>
              <a:t>▪  Logistic, LDA/QDA, SVM RBF, PCA + SVM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B2024"/>
                </a:solidFill>
                <a:latin typeface="Calibri"/>
              </a:rPr>
              <a:t>▪  Random Forest, Gradient Boosting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B2024"/>
                </a:solidFill>
                <a:latin typeface="Calibri"/>
              </a:rPr>
              <a:t>▪  Chọn đặc trưng; hồi quy thứ bậc (SVR)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B2024"/>
                </a:solidFill>
                <a:latin typeface="Calibri"/>
              </a:rPr>
              <a:t>▪  Chọn ngưỡng quyết định tối ưu F1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5A1E2B"/>
                </a:solidFill>
                <a:latin typeface="Calibri"/>
              </a:rPr>
              <a:t>Quy trình đánh giá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2651760" cy="1737360"/>
          </a:xfrm>
          <a:prstGeom prst="roundRect">
            <a:avLst>
              <a:gd name="adj" fmla="val 6000"/>
            </a:avLst>
          </a:prstGeom>
          <a:solidFill>
            <a:srgbClr val="F6E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2651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>
                <a:solidFill>
                  <a:srgbClr val="3A7CA5"/>
                </a:solidFill>
                <a:latin typeface="Calibri"/>
              </a:rPr>
              <a:t>Loại trùng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697480"/>
            <a:ext cx="2377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B5F63"/>
                </a:solidFill>
                <a:latin typeface="Calibri"/>
              </a:rPr>
              <a:t>1177 bản ghi – tránh rò rỉ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645920"/>
            <a:ext cx="2651760" cy="1737360"/>
          </a:xfrm>
          <a:prstGeom prst="roundRect">
            <a:avLst>
              <a:gd name="adj" fmla="val 6000"/>
            </a:avLst>
          </a:prstGeom>
          <a:solidFill>
            <a:srgbClr val="F6E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1828800"/>
            <a:ext cx="2651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>
                <a:solidFill>
                  <a:srgbClr val="5A1E2B"/>
                </a:solidFill>
                <a:latin typeface="Calibri"/>
              </a:rPr>
              <a:t>5×3 CV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2697480"/>
            <a:ext cx="2377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B5F63"/>
                </a:solidFill>
                <a:latin typeface="Calibri"/>
              </a:rPr>
              <a:t>phân tầng, 15 fold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651760" cy="1737360"/>
          </a:xfrm>
          <a:prstGeom prst="roundRect">
            <a:avLst>
              <a:gd name="adj" fmla="val 6000"/>
            </a:avLst>
          </a:prstGeom>
          <a:solidFill>
            <a:srgbClr val="F6E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828800"/>
            <a:ext cx="2651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>
                <a:solidFill>
                  <a:srgbClr val="5A1E2B"/>
                </a:solidFill>
                <a:latin typeface="Calibri"/>
              </a:rPr>
              <a:t>Nested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697480"/>
            <a:ext cx="2377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B5F63"/>
                </a:solidFill>
                <a:latin typeface="Calibri"/>
              </a:rPr>
              <a:t>GridSearch trong mỗi fold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1645920"/>
            <a:ext cx="2651760" cy="1737360"/>
          </a:xfrm>
          <a:prstGeom prst="roundRect">
            <a:avLst>
              <a:gd name="adj" fmla="val 6000"/>
            </a:avLst>
          </a:prstGeom>
          <a:solidFill>
            <a:srgbClr val="F6E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0" y="1828800"/>
            <a:ext cx="2651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>
                <a:solidFill>
                  <a:srgbClr val="5A1E2B"/>
                </a:solidFill>
                <a:latin typeface="Calibri"/>
              </a:rPr>
              <a:t>t-test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9720" y="2697480"/>
            <a:ext cx="2377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B5F63"/>
                </a:solidFill>
                <a:latin typeface="Calibri"/>
              </a:rPr>
              <a:t>hiệu chỉnh Nadeau–Bengio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840480"/>
            <a:ext cx="11064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2B2024"/>
                </a:solidFill>
                <a:latin typeface="Calibri"/>
              </a:rPr>
              <a:t>▪  Chỉ số chính: F1 và recall của lớp chất lượng cao, ROC-AUC; accuracy chỉ để tham khảo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B2024"/>
                </a:solidFill>
                <a:latin typeface="Calibri"/>
              </a:rPr>
              <a:t>▪  Phân tích lỗi trên dự đoán ngoài-fold cho toàn bộ 5.320 mẫu; seed = 42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5A1E2B"/>
                </a:solidFill>
                <a:latin typeface="Calibri"/>
              </a:rPr>
              <a:t>Kết quả: F1 tăng gần gấp đôi so với cơ sở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280160"/>
          <a:ext cx="6949440" cy="5120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955279" y="1463040"/>
            <a:ext cx="3657600" cy="1737360"/>
          </a:xfrm>
          <a:prstGeom prst="roundRect">
            <a:avLst>
              <a:gd name="adj" fmla="val 6000"/>
            </a:avLst>
          </a:prstGeom>
          <a:solidFill>
            <a:srgbClr val="F6E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79" y="1645920"/>
            <a:ext cx="3657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>
                <a:solidFill>
                  <a:srgbClr val="5A1E2B"/>
                </a:solidFill>
                <a:latin typeface="Calibri"/>
              </a:rPr>
              <a:t>0,277 → 0,548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2440" y="2514600"/>
            <a:ext cx="3383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B5F63"/>
                </a:solidFill>
                <a:latin typeface="Calibri"/>
              </a:rPr>
              <a:t>F1: k-NN thô → SVM RBF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3383280"/>
            <a:ext cx="3657600" cy="1737360"/>
          </a:xfrm>
          <a:prstGeom prst="roundRect">
            <a:avLst>
              <a:gd name="adj" fmla="val 6000"/>
            </a:avLst>
          </a:prstGeom>
          <a:solidFill>
            <a:srgbClr val="F6E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3566160"/>
            <a:ext cx="3657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>
                <a:solidFill>
                  <a:srgbClr val="5A1E2B"/>
                </a:solidFill>
                <a:latin typeface="Calibri"/>
              </a:rPr>
              <a:t>0,570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4434840"/>
            <a:ext cx="3383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B5F63"/>
                </a:solidFill>
                <a:latin typeface="Calibri"/>
              </a:rPr>
              <a:t>F1 cao nhất: SVR thứ bậc; mọi cải tiến p &lt; 0,001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5303520"/>
            <a:ext cx="3657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5F63"/>
                </a:solidFill>
                <a:latin typeface="Calibri"/>
              </a:rPr>
              <a:t>Xanh: cơ sở; đỏ rượu: cải tiến. F1 ở ngưỡng mặc định.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5A1E2B"/>
                </a:solidFill>
                <a:latin typeface="Calibri"/>
              </a:rPr>
              <a:t>Vì sao không dùng accuracy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554480"/>
          <a:ext cx="76809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645920"/>
                <a:gridCol w="1463040"/>
                <a:gridCol w="1280160"/>
              </a:tblGrid>
              <a:tr h="384048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Mô hình</a:t>
                      </a:r>
                    </a:p>
                  </a:txBody>
                  <a:tcPr>
                    <a:solidFill>
                      <a:srgbClr val="5A1E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5A1E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5A1E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5A1E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B2024"/>
                          </a:solidFill>
                          <a:latin typeface="Calibri"/>
                        </a:defRPr>
                      </a:pPr>
                      <a:r>
                        <a:t>[TC] Lớp đa số</a:t>
                      </a:r>
                    </a:p>
                  </a:txBody>
                  <a:tcPr>
                    <a:solidFill>
                      <a:srgbClr val="F6ED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B2024"/>
                          </a:solidFill>
                          <a:latin typeface="Calibri"/>
                        </a:defRPr>
                      </a:pPr>
                      <a:r>
                        <a:t>81,0%</a:t>
                      </a:r>
                    </a:p>
                  </a:txBody>
                  <a:tcPr>
                    <a:solidFill>
                      <a:srgbClr val="F6ED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B2024"/>
                          </a:solidFill>
                          <a:latin typeface="Calibri"/>
                        </a:defRPr>
                      </a:pPr>
                      <a:r>
                        <a:t>0,0%</a:t>
                      </a:r>
                    </a:p>
                  </a:txBody>
                  <a:tcPr>
                    <a:solidFill>
                      <a:srgbClr val="F6ED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B2024"/>
                          </a:solidFill>
                          <a:latin typeface="Calibri"/>
                        </a:defRPr>
                      </a:pPr>
                      <a:r>
                        <a:t>0,000</a:t>
                      </a:r>
                    </a:p>
                  </a:txBody>
                  <a:tcPr>
                    <a:solidFill>
                      <a:srgbClr val="F6ED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B2024"/>
                          </a:solidFill>
                          <a:latin typeface="Calibri"/>
                        </a:defRPr>
                      </a:pPr>
                      <a:r>
                        <a:t>[CS] k-NN thô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B2024"/>
                          </a:solidFill>
                          <a:latin typeface="Calibri"/>
                        </a:defRPr>
                      </a:pPr>
                      <a:r>
                        <a:t>79,2%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B2024"/>
                          </a:solidFill>
                          <a:latin typeface="Calibri"/>
                        </a:defRPr>
                      </a:pPr>
                      <a:r>
                        <a:t>21,0%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B2024"/>
                          </a:solidFill>
                          <a:latin typeface="Calibri"/>
                        </a:defRPr>
                      </a:pPr>
                      <a:r>
                        <a:t>0,277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B2024"/>
                          </a:solidFill>
                          <a:latin typeface="Calibri"/>
                        </a:defRPr>
                      </a:pPr>
                      <a:r>
                        <a:t>k-NN + chuẩn hóa</a:t>
                      </a:r>
                    </a:p>
                  </a:txBody>
                  <a:tcPr>
                    <a:solidFill>
                      <a:srgbClr val="F6ED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B2024"/>
                          </a:solidFill>
                          <a:latin typeface="Calibri"/>
                        </a:defRPr>
                      </a:pPr>
                      <a:r>
                        <a:t>83,4%</a:t>
                      </a:r>
                    </a:p>
                  </a:txBody>
                  <a:tcPr>
                    <a:solidFill>
                      <a:srgbClr val="F6ED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B2024"/>
                          </a:solidFill>
                          <a:latin typeface="Calibri"/>
                        </a:defRPr>
                      </a:pPr>
                      <a:r>
                        <a:t>36,2%</a:t>
                      </a:r>
                    </a:p>
                  </a:txBody>
                  <a:tcPr>
                    <a:solidFill>
                      <a:srgbClr val="F6ED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B2024"/>
                          </a:solidFill>
                          <a:latin typeface="Calibri"/>
                        </a:defRPr>
                      </a:pPr>
                      <a:r>
                        <a:t>0,452</a:t>
                      </a:r>
                    </a:p>
                  </a:txBody>
                  <a:tcPr>
                    <a:solidFill>
                      <a:srgbClr val="F6ED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B2024"/>
                          </a:solidFill>
                          <a:latin typeface="Calibri"/>
                        </a:defRPr>
                      </a:pPr>
                      <a:r>
                        <a:t>SVM RBF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B2024"/>
                          </a:solidFill>
                          <a:latin typeface="Calibri"/>
                        </a:defRPr>
                      </a:pPr>
                      <a:r>
                        <a:t>74,7%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B2024"/>
                          </a:solidFill>
                          <a:latin typeface="Calibri"/>
                        </a:defRPr>
                      </a:pPr>
                      <a:r>
                        <a:t>80,9%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B2024"/>
                          </a:solidFill>
                          <a:latin typeface="Calibri"/>
                        </a:defRPr>
                      </a:pPr>
                      <a:r>
                        <a:t>0,548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8503920" y="1554480"/>
            <a:ext cx="3108960" cy="3291840"/>
          </a:xfrm>
          <a:prstGeom prst="roundRect">
            <a:avLst>
              <a:gd name="adj" fmla="val 6000"/>
            </a:avLst>
          </a:prstGeom>
          <a:solidFill>
            <a:srgbClr val="F6E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0" y="1737360"/>
            <a:ext cx="274320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B2024"/>
                </a:solidFill>
                <a:latin typeface="Calibri"/>
              </a:rPr>
              <a:t>Đoán 'thường' cho mọi chai: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B2024"/>
                </a:solidFill>
                <a:latin typeface="Calibri"/>
              </a:rPr>
              <a:t>accuracy 81%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B2024"/>
                </a:solidFill>
                <a:latin typeface="Calibri"/>
              </a:rPr>
              <a:t>nhưng không tìm được chai ngon nào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B2024"/>
                </a:solidFill>
                <a:latin typeface="Calibri"/>
              </a:rPr>
              <a:t>▪  Chuẩn hóa: F1 0,277 → 0,452 (SO₂ ~ 10² lấn át độ cồn ~ 10)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B2024"/>
                </a:solidFill>
                <a:latin typeface="Calibri"/>
              </a:rPr>
              <a:t>▪  Thêm cân bằng lớp (SVM): recall 36% → 81%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5A1E2B"/>
                </a:solidFill>
                <a:latin typeface="Calibri"/>
              </a:rPr>
              <a:t>Thử theo gợi ý của UCI: chọn đặc trưng, nhãn có thứ tự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5394960" cy="4480560"/>
          </a:xfrm>
          <a:prstGeom prst="roundRect">
            <a:avLst>
              <a:gd name="adj" fmla="val 6000"/>
            </a:avLst>
          </a:prstGeom>
          <a:solidFill>
            <a:srgbClr val="F6E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5A1E2B"/>
                </a:solidFill>
                <a:latin typeface="Calibri"/>
              </a:rPr>
              <a:t>Chọn đặc trưng (ANOVA F + SVM)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40280"/>
            <a:ext cx="4937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5A1E2B"/>
                </a:solidFill>
                <a:latin typeface="Calibri"/>
              </a:rPr>
              <a:t>k = 12/12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200400"/>
            <a:ext cx="4937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2B2024"/>
                </a:solidFill>
                <a:latin typeface="Calibri"/>
              </a:rPr>
              <a:t>▪  F1 0,548 so với SVM đầy đủ 0,548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B2024"/>
                </a:solidFill>
                <a:latin typeface="Calibri"/>
              </a:rPr>
              <a:t>▪  Nested CV giữ lại gần như mọi chỉ tiêu: mỗi chỉ tiêu đóng góp một ít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394960" cy="4480560"/>
          </a:xfrm>
          <a:prstGeom prst="roundRect">
            <a:avLst>
              <a:gd name="adj" fmla="val 6000"/>
            </a:avLst>
          </a:prstGeom>
          <a:solidFill>
            <a:srgbClr val="F6E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0020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5A1E2B"/>
                </a:solidFill>
                <a:latin typeface="Calibri"/>
              </a:rPr>
              <a:t>Hồi quy thứ bậc (SVR điểm → ngưỡng)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240280"/>
            <a:ext cx="4937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5A1E2B"/>
                </a:solidFill>
                <a:latin typeface="Calibri"/>
              </a:rPr>
              <a:t>F1 0,570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3200400"/>
            <a:ext cx="4937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2B2024"/>
                </a:solidFill>
                <a:latin typeface="Calibri"/>
              </a:rPr>
              <a:t>▪  Recall 69%, precision 49%, AUC 0,852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B2024"/>
                </a:solidFill>
                <a:latin typeface="Calibri"/>
              </a:rPr>
              <a:t>▪  Dự đoán điểm 3–9 rồi cắt ở ≈ 6,12; hơn SVM với p = 0,04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B2024"/>
                </a:solidFill>
                <a:latin typeface="Calibri"/>
              </a:rPr>
              <a:t>▪  Tận dụng thứ tự: điểm 6 gần lớp dương hơn điểm 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5A1E2B"/>
                </a:solidFill>
                <a:latin typeface="Calibri"/>
              </a:rPr>
              <a:t>Ma trận nhầm lẫn: đổi bỏ sót lấy báo nhầm</a:t>
            </a:r>
          </a:p>
        </p:txBody>
      </p:sp>
      <p:pic>
        <p:nvPicPr>
          <p:cNvPr id="3" name="Picture 2" descr="confusion_matr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11064240" cy="34043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937760"/>
            <a:ext cx="11064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B2024"/>
                </a:solidFill>
                <a:latin typeface="Calibri"/>
              </a:rPr>
              <a:t>▪  Bỏ sót rượu ngon: 797 → 189   |   Báo nhầm: 318 → 1160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B2024"/>
                </a:solidFill>
                <a:latin typeface="Calibri"/>
              </a:rPr>
              <a:t>▪  Precision ~0,4: sàng lọc tốt, nhưng chưa thay được hội đồng nếm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5A1E2B"/>
                </a:solidFill>
                <a:latin typeface="Calibri"/>
              </a:rPr>
              <a:t>84% báo nhầm là rượu điểm 6 – sát ranh giới</a:t>
            </a:r>
          </a:p>
        </p:txBody>
      </p:sp>
      <p:pic>
        <p:nvPicPr>
          <p:cNvPr id="3" name="Picture 2" descr="pred_by_qua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6862813" cy="42062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680960" y="1463040"/>
            <a:ext cx="3931920" cy="4389120"/>
          </a:xfrm>
          <a:prstGeom prst="roundRect">
            <a:avLst>
              <a:gd name="adj" fmla="val 6000"/>
            </a:avLst>
          </a:prstGeom>
          <a:solidFill>
            <a:srgbClr val="F6E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0" y="1645920"/>
            <a:ext cx="3566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2B2024"/>
                </a:solidFill>
                <a:latin typeface="Calibri"/>
              </a:rPr>
              <a:t>▪  Tỉ lệ đoán 'cao' tăng theo điểm thật: 9% (5) → 42% (6) → 80% (7)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B2024"/>
                </a:solidFill>
                <a:latin typeface="Calibri"/>
              </a:rPr>
              <a:t>▪  Bỏ sót: rượu ngon có độ cồn thấp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B2024"/>
                </a:solidFill>
                <a:latin typeface="Calibri"/>
              </a:rPr>
              <a:t>▪  Báo nhầm: rượu thường có độ cồn cao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B2024"/>
                </a:solidFill>
                <a:latin typeface="Calibri"/>
              </a:rPr>
              <a:t>▪  Mô hình phụ thuộc quá nhiều vào độ cồn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5A1E2B"/>
                </a:solidFill>
                <a:latin typeface="Calibri"/>
              </a:rPr>
              <a:t>Ngưỡng quan trọng ngang chọn mô hình</a:t>
            </a:r>
          </a:p>
        </p:txBody>
      </p:sp>
      <p:pic>
        <p:nvPicPr>
          <p:cNvPr id="3" name="Picture 2" descr="thresh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6226629" cy="402336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949440" y="1463040"/>
          <a:ext cx="484632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143000"/>
                <a:gridCol w="1143000"/>
              </a:tblGrid>
              <a:tr h="38404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Mô hình</a:t>
                      </a:r>
                    </a:p>
                  </a:txBody>
                  <a:tcPr>
                    <a:solidFill>
                      <a:srgbClr val="5A1E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 @0,5</a:t>
                      </a:r>
                    </a:p>
                  </a:txBody>
                  <a:tcPr>
                    <a:solidFill>
                      <a:srgbClr val="5A1E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 tối ưu</a:t>
                      </a:r>
                    </a:p>
                  </a:txBody>
                  <a:tcPr>
                    <a:solidFill>
                      <a:srgbClr val="5A1E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B2024"/>
                          </a:solidFill>
                          <a:latin typeface="Calibri"/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6ED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B2024"/>
                          </a:solidFill>
                          <a:latin typeface="Calibri"/>
                        </a:defRPr>
                      </a:pPr>
                      <a:r>
                        <a:t>0,443</a:t>
                      </a:r>
                    </a:p>
                  </a:txBody>
                  <a:tcPr>
                    <a:solidFill>
                      <a:srgbClr val="F6ED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B2024"/>
                          </a:solidFill>
                          <a:latin typeface="Calibri"/>
                        </a:defRPr>
                      </a:pPr>
                      <a:r>
                        <a:t>0,582</a:t>
                      </a:r>
                    </a:p>
                  </a:txBody>
                  <a:tcPr>
                    <a:solidFill>
                      <a:srgbClr val="F6ED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B2024"/>
                          </a:solidFill>
                          <a:latin typeface="Calibri"/>
                        </a:defRPr>
                      </a:pPr>
                      <a:r>
                        <a:t>SVM RBF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B2024"/>
                          </a:solidFill>
                          <a:latin typeface="Calibri"/>
                        </a:defRPr>
                      </a:pPr>
                      <a:r>
                        <a:t>0,457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B2024"/>
                          </a:solidFill>
                          <a:latin typeface="Calibri"/>
                        </a:defRPr>
                      </a:pPr>
                      <a:r>
                        <a:t>0,568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B2024"/>
                          </a:solidFill>
                          <a:latin typeface="Calibri"/>
                        </a:defRPr>
                      </a:pPr>
                      <a:r>
                        <a:t>Gradient Boosting (HistGB)</a:t>
                      </a:r>
                    </a:p>
                  </a:txBody>
                  <a:tcPr>
                    <a:solidFill>
                      <a:srgbClr val="F6ED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B2024"/>
                          </a:solidFill>
                          <a:latin typeface="Calibri"/>
                        </a:defRPr>
                      </a:pPr>
                      <a:r>
                        <a:t>0,490</a:t>
                      </a:r>
                    </a:p>
                  </a:txBody>
                  <a:tcPr>
                    <a:solidFill>
                      <a:srgbClr val="F6ED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B2024"/>
                          </a:solidFill>
                          <a:latin typeface="Calibri"/>
                        </a:defRPr>
                      </a:pPr>
                      <a:r>
                        <a:t>0,559</a:t>
                      </a:r>
                    </a:p>
                  </a:txBody>
                  <a:tcPr>
                    <a:solidFill>
                      <a:srgbClr val="F6ED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B2024"/>
                          </a:solidFill>
                          <a:latin typeface="Calibri"/>
                        </a:defRPr>
                      </a:pPr>
                      <a:r>
                        <a:t>Logistic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B2024"/>
                          </a:solidFill>
                          <a:latin typeface="Calibri"/>
                        </a:defRPr>
                      </a:pPr>
                      <a:r>
                        <a:t>0,535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B2024"/>
                          </a:solidFill>
                          <a:latin typeface="Calibri"/>
                        </a:defRPr>
                      </a:pPr>
                      <a:r>
                        <a:t>0,542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B2024"/>
                          </a:solidFill>
                          <a:latin typeface="Calibri"/>
                        </a:defRPr>
                      </a:pPr>
                      <a:r>
                        <a:t>k-NN + chuẩn hóa</a:t>
                      </a:r>
                    </a:p>
                  </a:txBody>
                  <a:tcPr>
                    <a:solidFill>
                      <a:srgbClr val="F6ED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B2024"/>
                          </a:solidFill>
                          <a:latin typeface="Calibri"/>
                        </a:defRPr>
                      </a:pPr>
                      <a:r>
                        <a:t>0,445</a:t>
                      </a:r>
                    </a:p>
                  </a:txBody>
                  <a:tcPr>
                    <a:solidFill>
                      <a:srgbClr val="F6ED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B2024"/>
                          </a:solidFill>
                          <a:latin typeface="Calibri"/>
                        </a:defRPr>
                      </a:pPr>
                      <a:r>
                        <a:t>0,531</a:t>
                      </a:r>
                    </a:p>
                  </a:txBody>
                  <a:tcPr>
                    <a:solidFill>
                      <a:srgbClr val="F6ED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B2024"/>
                          </a:solidFill>
                          <a:latin typeface="Calibri"/>
                        </a:defRPr>
                      </a:pPr>
                      <a:r>
                        <a:t>[CS] k-NN thô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B2024"/>
                          </a:solidFill>
                          <a:latin typeface="Calibri"/>
                        </a:defRPr>
                      </a:pPr>
                      <a:r>
                        <a:t>0,276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B2024"/>
                          </a:solidFill>
                          <a:latin typeface="Calibri"/>
                        </a:defRPr>
                      </a:pPr>
                      <a:r>
                        <a:t>0,403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949440" y="4572000"/>
            <a:ext cx="47548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024"/>
                </a:solidFill>
                <a:latin typeface="Calibri"/>
              </a:rPr>
              <a:t>Sau khi chỉnh ngưỡng, các mô hình mạnh chỉ còn chênh 0,01–0,04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5A1E2B"/>
                </a:solidFill>
                <a:latin typeface="Calibri"/>
              </a:rPr>
              <a:t>Bản ghi trùng thổi phồng mô hình cây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280160"/>
          <a:ext cx="7132320" cy="5120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8046720" y="1463040"/>
            <a:ext cx="3566160" cy="4389120"/>
          </a:xfrm>
          <a:prstGeom prst="roundRect">
            <a:avLst>
              <a:gd name="adj" fmla="val 6000"/>
            </a:avLst>
          </a:prstGeom>
          <a:solidFill>
            <a:srgbClr val="F6E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0" y="164592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2B2024"/>
                </a:solidFill>
                <a:latin typeface="Calibri"/>
              </a:rPr>
              <a:t>▪  1177 bản ghi trùng (18%)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B2024"/>
                </a:solidFill>
                <a:latin typeface="Calibri"/>
              </a:rPr>
              <a:t>▪  Random Forest: F1 0,665 → 0,450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B2024"/>
                </a:solidFill>
                <a:latin typeface="Calibri"/>
              </a:rPr>
              <a:t>▪  SVM: chỉ 0,586 → 0,539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B2024"/>
                </a:solidFill>
                <a:latin typeface="Calibri"/>
              </a:rPr>
              <a:t>▪  Không loại trùng → chọn sai mô hình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5A1E2B"/>
                </a:solidFill>
                <a:latin typeface="Calibri"/>
              </a:rPr>
              <a:t>Điều chưa giải quyết được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5394960" cy="2194560"/>
          </a:xfrm>
          <a:prstGeom prst="roundRect">
            <a:avLst>
              <a:gd name="adj" fmla="val 6000"/>
            </a:avLst>
          </a:prstGeom>
          <a:solidFill>
            <a:srgbClr val="F6E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4592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5A1E2B"/>
                </a:solidFill>
                <a:latin typeface="Calibri"/>
              </a:rPr>
              <a:t>Nhãn chủ quan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40280"/>
            <a:ext cx="49377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024"/>
                </a:solidFill>
                <a:latin typeface="Calibri"/>
              </a:rPr>
              <a:t>Ranh giới 6/7 có nhiễu, tạo trần hiệu năng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394960" cy="2194560"/>
          </a:xfrm>
          <a:prstGeom prst="roundRect">
            <a:avLst>
              <a:gd name="adj" fmla="val 6000"/>
            </a:avLst>
          </a:prstGeom>
          <a:solidFill>
            <a:srgbClr val="F6E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4592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5A1E2B"/>
                </a:solidFill>
                <a:latin typeface="Calibri"/>
              </a:rPr>
              <a:t>Thiếu thông tin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2240280"/>
            <a:ext cx="49377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024"/>
                </a:solidFill>
                <a:latin typeface="Calibri"/>
              </a:rPr>
              <a:t>Không có giống nho, năm, hương vị; chỉ rượu Vinho Verde 2004–2007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931920"/>
            <a:ext cx="5394960" cy="2194560"/>
          </a:xfrm>
          <a:prstGeom prst="roundRect">
            <a:avLst>
              <a:gd name="adj" fmla="val 6000"/>
            </a:avLst>
          </a:prstGeom>
          <a:solidFill>
            <a:srgbClr val="F6E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11480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5A1E2B"/>
                </a:solidFill>
                <a:latin typeface="Calibri"/>
              </a:rPr>
              <a:t>Precision thấp (~0,4)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709160"/>
            <a:ext cx="49377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024"/>
                </a:solidFill>
                <a:latin typeface="Calibri"/>
              </a:rPr>
              <a:t>Chỉ dùng làm công cụ sàng lọc, chưa thay được hội đồng nếm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394960" cy="2194560"/>
          </a:xfrm>
          <a:prstGeom prst="roundRect">
            <a:avLst>
              <a:gd name="adj" fmla="val 6000"/>
            </a:avLst>
          </a:prstGeom>
          <a:solidFill>
            <a:srgbClr val="F6E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411480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5A1E2B"/>
                </a:solidFill>
                <a:latin typeface="Calibri"/>
              </a:rPr>
              <a:t>Đánh giá còn lạc quan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4709160"/>
            <a:ext cx="49377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024"/>
                </a:solidFill>
                <a:latin typeface="Calibri"/>
              </a:rPr>
              <a:t>Ngưỡng chọn trên dữ liệu ngoài-fold, chưa có tập kiểm tra độc lập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5A1E2B"/>
                </a:solidFill>
                <a:latin typeface="Calibri"/>
              </a:rPr>
              <a:t>Demo: thao tác trực tiếp với dữ liệu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6583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2B2024"/>
                </a:solidFill>
                <a:latin typeface="Calibri"/>
              </a:rPr>
              <a:t>▪  Chọn mẫu có sẵn hoặc lấy ngẫu nhiên một chai ngon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B2024"/>
                </a:solidFill>
                <a:latin typeface="Calibri"/>
              </a:rPr>
              <a:t>▪  Kéo 11 thanh chỉ tiêu hóa lý, đổi loại rượu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B2024"/>
                </a:solidFill>
                <a:latin typeface="Calibri"/>
              </a:rPr>
              <a:t>▪  So sánh k-NN cơ sở và SVM cải tiến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B2024"/>
                </a:solidFill>
                <a:latin typeface="Calibri"/>
              </a:rPr>
              <a:t>▪  Kéo ngưỡng để thấy đánh đổi bỏ sót / báo nhầm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B2024"/>
                </a:solidFill>
                <a:latin typeface="Calibri"/>
              </a:rPr>
              <a:t>▪  Đường xác suất theo độ cồn; vị trí trên PCA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B2024"/>
                </a:solidFill>
                <a:latin typeface="Calibri"/>
              </a:rPr>
              <a:t>▪  Tải CSV để dự đoán hàng loạt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79" y="1737360"/>
            <a:ext cx="4114800" cy="2743200"/>
          </a:xfrm>
          <a:prstGeom prst="roundRect">
            <a:avLst>
              <a:gd name="adj" fmla="val 6000"/>
            </a:avLst>
          </a:prstGeom>
          <a:solidFill>
            <a:srgbClr val="5A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0" y="2194560"/>
            <a:ext cx="3749039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streamlit run app.py</a:t>
            </a:r>
          </a:p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→ localhost:8501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A1E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  <a:latin typeface="Calibri"/>
              </a:rPr>
              <a:t>Kết luận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3383280" cy="2743200"/>
          </a:xfrm>
          <a:prstGeom prst="roundRect">
            <a:avLst>
              <a:gd name="adj" fmla="val 6000"/>
            </a:avLst>
          </a:prstGeom>
          <a:solidFill>
            <a:srgbClr val="743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103120"/>
            <a:ext cx="3108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0,277 → 0,548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3017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0">
                <a:solidFill>
                  <a:srgbClr val="E8C9CF"/>
                </a:solidFill>
                <a:latin typeface="Calibri"/>
              </a:rPr>
              <a:t>F1: chuẩn hóa + cân bằng lớp + SVM RBF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383280" cy="2743200"/>
          </a:xfrm>
          <a:prstGeom prst="roundRect">
            <a:avLst>
              <a:gd name="adj" fmla="val 6000"/>
            </a:avLst>
          </a:prstGeom>
          <a:solidFill>
            <a:srgbClr val="743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2103120"/>
            <a:ext cx="3108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Thứ bậc: 0,570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200400"/>
            <a:ext cx="3017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0">
                <a:solidFill>
                  <a:srgbClr val="E8C9CF"/>
                </a:solidFill>
                <a:latin typeface="Calibri"/>
              </a:rPr>
              <a:t>SVR trên điểm: F1 cao nhất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828800"/>
            <a:ext cx="3383280" cy="2743200"/>
          </a:xfrm>
          <a:prstGeom prst="roundRect">
            <a:avLst>
              <a:gd name="adj" fmla="val 6000"/>
            </a:avLst>
          </a:prstGeom>
          <a:solidFill>
            <a:srgbClr val="743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79" y="2103120"/>
            <a:ext cx="3108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Loại trùng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3200400"/>
            <a:ext cx="3017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0">
                <a:solidFill>
                  <a:srgbClr val="E8C9CF"/>
                </a:solidFill>
                <a:latin typeface="Calibri"/>
              </a:rPr>
              <a:t>bắt buộc; lỗi dồn ở ranh giới 6/7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1206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E8C9CF"/>
                </a:solidFill>
                <a:latin typeface="Calibri"/>
              </a:rPr>
              <a:t>Phù hợp làm công cụ sàng lọc hỗ trợ, chưa thay thế đánh giá cảm quan.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5A1E2B"/>
                </a:solidFill>
                <a:latin typeface="Calibri"/>
              </a:rPr>
              <a:t>Phân công và tài liệu tham khảo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6583680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108960"/>
                <a:gridCol w="1097280"/>
              </a:tblGrid>
              <a:tr h="384048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Thành viên</a:t>
                      </a:r>
                    </a:p>
                  </a:txBody>
                  <a:tcPr>
                    <a:solidFill>
                      <a:srgbClr val="5A1E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Nhiệm vụ</a:t>
                      </a:r>
                    </a:p>
                  </a:txBody>
                  <a:tcPr>
                    <a:solidFill>
                      <a:srgbClr val="5A1E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Đóng góp</a:t>
                      </a:r>
                    </a:p>
                  </a:txBody>
                  <a:tcPr>
                    <a:solidFill>
                      <a:srgbClr val="5A1E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B2024"/>
                          </a:solidFill>
                          <a:latin typeface="Calibri"/>
                        </a:defRPr>
                      </a:pPr>
                      <a:r>
                        <a:t>Nguyễn Quốc Cường</a:t>
                      </a:r>
                    </a:p>
                  </a:txBody>
                  <a:tcPr>
                    <a:solidFill>
                      <a:srgbClr val="F6ED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B2024"/>
                          </a:solidFill>
                          <a:latin typeface="Calibri"/>
                        </a:defRPr>
                      </a:pPr>
                      <a:r>
                        <a:t>Phân tích bài toán, làm slide</a:t>
                      </a:r>
                    </a:p>
                  </a:txBody>
                  <a:tcPr>
                    <a:solidFill>
                      <a:srgbClr val="F6ED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B2024"/>
                          </a:solidFill>
                          <a:latin typeface="Calibri"/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F6ED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B2024"/>
                          </a:solidFill>
                          <a:latin typeface="Calibri"/>
                        </a:defRPr>
                      </a:pPr>
                      <a:r>
                        <a:t>Trần Như Đức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B2024"/>
                          </a:solidFill>
                          <a:latin typeface="Calibri"/>
                        </a:defRPr>
                      </a:pPr>
                      <a:r>
                        <a:t>Code thuật toán, làm báo cáo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B2024"/>
                          </a:solidFill>
                          <a:latin typeface="Calibri"/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498079" y="1463040"/>
            <a:ext cx="4114800" cy="4389120"/>
          </a:xfrm>
          <a:prstGeom prst="roundRect">
            <a:avLst>
              <a:gd name="adj" fmla="val 6000"/>
            </a:avLst>
          </a:prstGeom>
          <a:solidFill>
            <a:srgbClr val="F6E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0" y="1600200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B2024"/>
                </a:solidFill>
                <a:latin typeface="Calibri"/>
              </a:rPr>
              <a:t>[1] Cortez et al. 2009. Wine Quality, UCI: archive.ics.uci.edu/dataset/186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B2024"/>
                </a:solidFill>
                <a:latin typeface="Calibri"/>
              </a:rPr>
              <a:t>[2] Cortez et al. 2009. Decision Support Systems 47(4)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B2024"/>
                </a:solidFill>
                <a:latin typeface="Calibri"/>
              </a:rPr>
              <a:t>[3] Pedregosa et al. 2011. scikit-learn, JMLR 12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B2024"/>
                </a:solidFill>
                <a:latin typeface="Calibri"/>
              </a:rPr>
              <a:t>[4] Nadeau &amp; Bengio 2003. Machine Learning 52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